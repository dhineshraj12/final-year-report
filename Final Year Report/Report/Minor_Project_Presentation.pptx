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7" r:id="rId11"/>
    <p:sldId id="268" r:id="rId12"/>
    <p:sldId id="269" r:id="rId13"/>
    <p:sldId id="265" r:id="rId14"/>
    <p:sldId id="272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84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A27A-EBE5-2706-97E9-0BA6A8439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AE0ED5-ECBD-C962-73E0-58A0FB525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2D6F1-B4E2-E66F-B125-36596E09E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51A0F-A3C8-0ECC-3773-FD7174BF1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10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76BE-1E60-4135-124E-9C1EAF2E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50034-5EA7-23E7-D959-9BF306983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7CA99-A2F4-0F68-9765-CE9CCC1C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9B7CF-734D-620C-6650-08BDAE609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71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0B04-05B5-9D2F-1314-1E9A6B8A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8AC43-2609-BD0E-3EEB-809AD8D1E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F1310-E4B4-E327-4B4C-BFFC83559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A4755-694A-35B3-76DD-0A708E646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07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1935-E418-B652-5BAE-40FB713A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C3440-5577-8E46-2E6D-3AB591D19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6AF3B-67DA-F4B9-D741-850DA91CA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84F09-86BE-862D-2BF8-7324B24C1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81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73374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2E3C82"/>
          </a:solidFill>
          <a:ln/>
        </p:spPr>
      </p:sp>
      <p:sp>
        <p:nvSpPr>
          <p:cNvPr id="5" name="Shape 3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7337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ITWB2914 · MINOR PROJECT · FAIFT, UNITAR INTERNATIONAL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8822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Event Logistics Efficiency Through an Integrated Real-Time Tent and Equipment Allocation Framework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40080" y="4496624"/>
            <a:ext cx="2011680" cy="0"/>
          </a:xfrm>
          <a:prstGeom prst="line">
            <a:avLst/>
          </a:prstGeom>
          <a:noFill/>
          <a:ln w="25400">
            <a:solidFill>
              <a:srgbClr val="C9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25224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Dhinesh Raj A/L Philip Jason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MC231025222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Information Technology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Assoc. Prof. Dr. Fakhrul Hazman Yusoff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736557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Events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Sdn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Bhd.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452035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medium-sized event rental business in Bandar Sunway, Petaling Jaya. Canopies, tables, chairs, cooler and decor for weddings, kenduri, corporate functions and more — coordinated entirely from a list on the owner's phone.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280835"/>
            <a:ext cx="1426464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80835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4280835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2139696" y="4280835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4280835"/>
            <a:ext cx="818388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4280835"/>
            <a:ext cx="81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6260" y="4280835"/>
            <a:ext cx="992124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4280835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22976" y="4280835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5522976" y="4280835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1507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CHANNELS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1617845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709285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69480" y="2276213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RENTABLE ASSETS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2843141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2934581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9480" y="3501509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40880" y="4068437"/>
            <a:ext cx="4572000" cy="1051560"/>
          </a:xfrm>
          <a:prstGeom prst="roundRect">
            <a:avLst>
              <a:gd name="adj" fmla="val 7826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4159877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128 / 800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69480" y="473482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CANOPIES / TABLES / CHAIRS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blind spots in a thousand-asset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availability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417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judged from memory during a live customer call — a refusal can't be verified against any record.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76856"/>
            <a:ext cx="1106424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3500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cost or profit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235000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on the invoice; cost is never allocated to the event that caused it. Pricing decisions have no financial evidence behind them.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1106424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28269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loss &amp; damage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77840" y="328269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damaged items surface only at dismantling, dependent entirely on whoever is on-site that day.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1106424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21538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Untracked wage liabilities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421538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ties a worker to a job and a settlement. Outstanding pay is kept informally.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4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51480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 seasonality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514807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and slow months are the owner's recollection, never checked against structured historical data.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memory-based decisions to a verifiable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owner accurate, asset-level equipment availability across concurrent bookings, and quantified visibility of the cost, revenue and profit each event generates.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07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401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current practice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767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booking, allocation, labour and record-keeping directly with the owner.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907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3401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allocation model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3767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asset-level availability across overlapping windows of occupancy.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994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" y="5093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revenue data structure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5458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cost, labour and revenue per event to compute per-event profit.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4434840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5994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5093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dashboard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5458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seasonal demand and surface daily / weekly / monthly profit.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 specification, not a working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3E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 from the owner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model &amp; data flow diagrams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 (5 dimensions)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 diagram)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interface design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 for demand &amp; profit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A1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implementation &amp; deployment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acceptance testing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payment / accounting integration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worker scheduling or routing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customer-facing booking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audit of historical accounts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142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 this project occupies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3677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117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Tracking in SMEs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95601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Oyetade et al. (2024); Panigrahi et al. (2024)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93757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is a distinct, measurable driver of SME performance — separate from storage and control.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561698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5313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Allocation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96403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Teerasoponpong &amp; Sopadang (2022)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6520" y="220177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for SMEs is feasible — but existing work targets replenishment, not recovery-based rental cycles.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434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348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Forecasting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1457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Borucka (2023); Tadayonrad &amp; Ndiaye (2023)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3835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methods work with modest historical data — complexity doesn't reliably beat simplicity.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727377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818817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Dashboards for SMEs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412971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Gonçalves et al. (2023); Alsibhawi et al. (2023)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4367457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depends on ease of use and information quality more than analytical power.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164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Waterfall, chosen against the alternatives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05245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79565"/>
            <a:ext cx="128016" cy="128016"/>
          </a:xfrm>
          <a:prstGeom prst="ellipse">
            <a:avLst/>
          </a:prstGeom>
          <a:solidFill>
            <a:srgbClr val="A9B0C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6983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9960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265365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working software to react to within minor-project scope; one stakeholder, not a product team.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305245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579565"/>
            <a:ext cx="128016" cy="128016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46983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89960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WITHIN DESIGN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3265365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surfaced the wage-settlement requirement — but broad iteration wasn't needed once requirements stabilised.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305245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579565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46983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289960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3265365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stakeholder, sequentially dependent deliverables, and alignment with the chapter-by-chapter reporting structure.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One event occupies stock for three days, not one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dispatched the day before an event and dismantled the day after. Availability is therefore a problem of overlapping intervals — not matching dates.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23060" y="2387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 Jun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0380" y="2387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 Jun (Event)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57700" y="2387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 Jun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75020" y="2387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 Jun (Event)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92340" y="23872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 Jun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80160" y="277127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77127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77127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277127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77127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7592" y="2798704"/>
            <a:ext cx="4142232" cy="448056"/>
          </a:xfrm>
          <a:prstGeom prst="roundRect">
            <a:avLst>
              <a:gd name="adj" fmla="val 10204"/>
            </a:avLst>
          </a:prstGeom>
          <a:solidFill>
            <a:srgbClr val="C9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8169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Booking A — window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80160" y="377711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377711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377711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377711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3777112"/>
            <a:ext cx="1362456" cy="502920"/>
          </a:xfrm>
          <a:prstGeom prst="rect">
            <a:avLst/>
          </a:prstGeom>
          <a:solidFill>
            <a:srgbClr val="273374"/>
          </a:solidFill>
          <a:ln w="9525">
            <a:solidFill>
              <a:srgbClr val="3A45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42232" y="3804544"/>
            <a:ext cx="4142232" cy="448056"/>
          </a:xfrm>
          <a:prstGeom prst="roundRect">
            <a:avLst>
              <a:gd name="adj" fmla="val 10204"/>
            </a:avLst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38228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Booking B — window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0" y="2725552"/>
            <a:ext cx="1362456" cy="16002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922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280160" y="467354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physical stock is claimed by both bookings on 15 June — even though the two event dates never touch.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ITWB2914 Minor Project — AR Events Allocation Framework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three-tier architecture, sized for one user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17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app in the owner's mobile browser — no app-store install, no dedicated hardware.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350008"/>
            <a:ext cx="1003097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50008"/>
            <a:ext cx="10030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9793" y="2350008"/>
            <a:ext cx="123078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999793" y="2350008"/>
            <a:ext cx="1230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8591" y="2350008"/>
            <a:ext cx="130667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58591" y="2350008"/>
            <a:ext cx="1306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entry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93285" y="2350008"/>
            <a:ext cx="1382573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93285" y="2350008"/>
            <a:ext cx="13825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labour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852928"/>
            <a:ext cx="0" cy="274320"/>
          </a:xfrm>
          <a:prstGeom prst="line">
            <a:avLst/>
          </a:prstGeom>
          <a:noFill/>
          <a:ln w="25400">
            <a:solidFill>
              <a:srgbClr val="C9922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127248"/>
            <a:ext cx="11064240" cy="1481328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735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3584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booking, allocation, quoting and invoicing logic. Analytics run on a schedule, not per request.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4105656"/>
            <a:ext cx="1382573" cy="365760"/>
          </a:xfrm>
          <a:prstGeom prst="roundRect">
            <a:avLst>
              <a:gd name="adj" fmla="val 20000"/>
            </a:avLst>
          </a:prstGeom>
          <a:solidFill>
            <a:srgbClr val="2E3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05656"/>
            <a:ext cx="13825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9269" y="4105656"/>
            <a:ext cx="1610258" cy="365760"/>
          </a:xfrm>
          <a:prstGeom prst="roundRect">
            <a:avLst>
              <a:gd name="adj" fmla="val 20000"/>
            </a:avLst>
          </a:prstGeom>
          <a:solidFill>
            <a:srgbClr val="2E3C82"/>
          </a:solidFill>
          <a:ln/>
        </p:spPr>
      </p:sp>
      <p:sp>
        <p:nvSpPr>
          <p:cNvPr id="22" name="Text 20"/>
          <p:cNvSpPr/>
          <p:nvPr/>
        </p:nvSpPr>
        <p:spPr>
          <a:xfrm>
            <a:off x="2379269" y="4105656"/>
            <a:ext cx="1610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7543" y="4105656"/>
            <a:ext cx="1762049" cy="365760"/>
          </a:xfrm>
          <a:prstGeom prst="roundRect">
            <a:avLst>
              <a:gd name="adj" fmla="val 20000"/>
            </a:avLst>
          </a:prstGeom>
          <a:solidFill>
            <a:srgbClr val="2E3C82"/>
          </a:solidFill>
          <a:ln/>
        </p:spPr>
      </p:sp>
      <p:sp>
        <p:nvSpPr>
          <p:cNvPr id="24" name="Text 22"/>
          <p:cNvSpPr/>
          <p:nvPr/>
        </p:nvSpPr>
        <p:spPr>
          <a:xfrm>
            <a:off x="4117543" y="4105656"/>
            <a:ext cx="1762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&amp; cost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07608" y="4105656"/>
            <a:ext cx="1762049" cy="365760"/>
          </a:xfrm>
          <a:prstGeom prst="roundRect">
            <a:avLst>
              <a:gd name="adj" fmla="val 20000"/>
            </a:avLst>
          </a:prstGeom>
          <a:solidFill>
            <a:srgbClr val="2E3C82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4105656"/>
            <a:ext cx="1762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analytics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4608576"/>
            <a:ext cx="0" cy="274320"/>
          </a:xfrm>
          <a:prstGeom prst="line">
            <a:avLst/>
          </a:prstGeom>
          <a:noFill/>
          <a:ln w="25400">
            <a:solidFill>
              <a:srgbClr val="C9922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4882896"/>
            <a:ext cx="11064240" cy="1481328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029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53400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enforcing integrity across bookings, allocations and labour — 12 entities.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8680" y="5861304"/>
            <a:ext cx="130667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861304"/>
            <a:ext cx="1306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3374" y="5861304"/>
            <a:ext cx="1534363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03374" y="5861304"/>
            <a:ext cx="1534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backup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F112B-F0DD-9E96-3E55-DADE42BDA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F16CD2-6AD2-2C46-0BBB-6849B3FF5640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A21134-4DF2-107E-FB09-50A3D1D4545E}"/>
              </a:ext>
            </a:extLst>
          </p:cNvPr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Use Case Diagram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3CCB8C6-B669-0466-1D48-B314BF583447}"/>
              </a:ext>
            </a:extLst>
          </p:cNvPr>
          <p:cNvSpPr/>
          <p:nvPr/>
        </p:nvSpPr>
        <p:spPr>
          <a:xfrm>
            <a:off x="548639" y="1363166"/>
            <a:ext cx="11185855" cy="5083354"/>
          </a:xfrm>
          <a:prstGeom prst="roundRect">
            <a:avLst>
              <a:gd name="adj" fmla="val 1837"/>
            </a:avLst>
          </a:prstGeom>
          <a:solidFill>
            <a:srgbClr val="F4F6FB"/>
          </a:solidFill>
          <a:ln/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18A7310-171F-2A57-C811-15E405B6486C}"/>
              </a:ext>
            </a:extLst>
          </p:cNvPr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CDC1161-1108-D660-0B43-2BFFB263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866" y="1508760"/>
            <a:ext cx="5613400" cy="446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8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3BFD5-7B38-9CD9-B4AF-EF2A4780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F50810-A86F-D79D-A393-B11BEB85E6AD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2F1C10-7CE5-A29B-9B04-0570B849B7D0}"/>
              </a:ext>
            </a:extLst>
          </p:cNvPr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Entity-Relationship Diagram ( ERD)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AEB188D-F107-1273-365D-DB1FB4AE74BC}"/>
              </a:ext>
            </a:extLst>
          </p:cNvPr>
          <p:cNvSpPr/>
          <p:nvPr/>
        </p:nvSpPr>
        <p:spPr>
          <a:xfrm>
            <a:off x="843013" y="1558894"/>
            <a:ext cx="10354071" cy="4887626"/>
          </a:xfrm>
          <a:prstGeom prst="roundRect">
            <a:avLst>
              <a:gd name="adj" fmla="val 183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MY" dirty="0"/>
          </a:p>
        </p:txBody>
      </p:sp>
      <p:pic>
        <p:nvPicPr>
          <p:cNvPr id="17" name="Image 0" descr="pdfimg/erd-000.png">
            <a:extLst>
              <a:ext uri="{FF2B5EF4-FFF2-40B4-BE49-F238E27FC236}">
                <a16:creationId xmlns:a16="http://schemas.microsoft.com/office/drawing/2014/main" id="{6EEB541C-1FB2-74FE-81F2-EE9E28A09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179" y="1737109"/>
            <a:ext cx="8006111" cy="4435091"/>
          </a:xfrm>
          <a:prstGeom prst="rect">
            <a:avLst/>
          </a:prstGeom>
        </p:spPr>
      </p:pic>
      <p:sp>
        <p:nvSpPr>
          <p:cNvPr id="20" name="Text 17">
            <a:extLst>
              <a:ext uri="{FF2B5EF4-FFF2-40B4-BE49-F238E27FC236}">
                <a16:creationId xmlns:a16="http://schemas.microsoft.com/office/drawing/2014/main" id="{647C26AB-F7E3-E041-00DF-A7C758282B9F}"/>
              </a:ext>
            </a:extLst>
          </p:cNvPr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3658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1C69E-DC0F-6D70-F8CA-34C086401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F614FD-5E98-F16C-0B16-7D5262DC1983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E0755A-0096-BAD9-840A-80AF68C391E3}"/>
              </a:ext>
            </a:extLst>
          </p:cNvPr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Data Flow Diagram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3CEB0C2-BB85-C37F-3401-F58798F028FE}"/>
              </a:ext>
            </a:extLst>
          </p:cNvPr>
          <p:cNvSpPr/>
          <p:nvPr/>
        </p:nvSpPr>
        <p:spPr>
          <a:xfrm>
            <a:off x="548639" y="1363166"/>
            <a:ext cx="11185855" cy="5083354"/>
          </a:xfrm>
          <a:prstGeom prst="roundRect">
            <a:avLst>
              <a:gd name="adj" fmla="val 183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MY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84F88DA-7077-83A7-4856-296BC4BF11DB}"/>
              </a:ext>
            </a:extLst>
          </p:cNvPr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4EA4D-F766-FB1A-DC69-FD67A0384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7" y="1679307"/>
            <a:ext cx="5712461" cy="34993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27">
            <a:extLst>
              <a:ext uri="{FF2B5EF4-FFF2-40B4-BE49-F238E27FC236}">
                <a16:creationId xmlns:a16="http://schemas.microsoft.com/office/drawing/2014/main" id="{52A86FFD-3877-F939-A43A-E428FEAA2095}"/>
              </a:ext>
            </a:extLst>
          </p:cNvPr>
          <p:cNvSpPr/>
          <p:nvPr/>
        </p:nvSpPr>
        <p:spPr>
          <a:xfrm>
            <a:off x="2904757" y="5468279"/>
            <a:ext cx="1321068" cy="49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01C7CB-CC92-6B0E-4B12-D6032B42C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378" y="1874369"/>
            <a:ext cx="4827502" cy="31092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1">
            <a:extLst>
              <a:ext uri="{FF2B5EF4-FFF2-40B4-BE49-F238E27FC236}">
                <a16:creationId xmlns:a16="http://schemas.microsoft.com/office/drawing/2014/main" id="{AAC3EC85-D69F-C6CA-91CF-88C9064F59B0}"/>
              </a:ext>
            </a:extLst>
          </p:cNvPr>
          <p:cNvSpPr/>
          <p:nvPr/>
        </p:nvSpPr>
        <p:spPr>
          <a:xfrm flipH="1">
            <a:off x="6581941" y="1679307"/>
            <a:ext cx="1" cy="4593156"/>
          </a:xfrm>
          <a:prstGeom prst="line">
            <a:avLst/>
          </a:prstGeom>
          <a:noFill/>
          <a:ln w="12700">
            <a:solidFill>
              <a:srgbClr val="D8DCEA"/>
            </a:solidFill>
            <a:prstDash val="solid"/>
          </a:ln>
        </p:spPr>
      </p:sp>
      <p:sp>
        <p:nvSpPr>
          <p:cNvPr id="12" name="Text 27">
            <a:extLst>
              <a:ext uri="{FF2B5EF4-FFF2-40B4-BE49-F238E27FC236}">
                <a16:creationId xmlns:a16="http://schemas.microsoft.com/office/drawing/2014/main" id="{C5D19566-41BB-22C8-5658-B0B88EF65F53}"/>
              </a:ext>
            </a:extLst>
          </p:cNvPr>
          <p:cNvSpPr/>
          <p:nvPr/>
        </p:nvSpPr>
        <p:spPr>
          <a:xfrm>
            <a:off x="8538595" y="5327678"/>
            <a:ext cx="1321068" cy="49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8882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Mock-up Interfaces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1208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5" name="Image 0" descr="pdfimg/screen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1115568" cy="24737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64792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8" name="Image 1" descr="pdfimg/screen-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691640"/>
            <a:ext cx="1115568" cy="24737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55064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008376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11" name="Image 2" descr="pdfimg/screen-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1691640"/>
            <a:ext cx="1115568" cy="24737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98648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4251960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14" name="Image 3" descr="pdfimg/screen-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1691640"/>
            <a:ext cx="1115568" cy="24737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42232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Return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5495544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17" name="Image 4" descr="pdfimg/screen-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976" y="1691640"/>
            <a:ext cx="1115568" cy="24737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85816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739128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0" name="Image 5" descr="pdfimg/screen-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1691640"/>
            <a:ext cx="1115568" cy="24737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29400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Equipment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7982712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3" name="Image 6" descr="pdfimg/screen-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144" y="1691640"/>
            <a:ext cx="1115568" cy="24737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872984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Costs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9226296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6" name="Image 7" descr="pdfimg/screen-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3728" y="1691640"/>
            <a:ext cx="1115568" cy="24737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116568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10469880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9" name="Image 8" descr="pdfimg/screen-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7312" y="1691640"/>
            <a:ext cx="1115568" cy="24737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360152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Labour</a:t>
            </a:r>
            <a:endParaRPr lang="en-US" sz="850" dirty="0"/>
          </a:p>
        </p:txBody>
      </p:sp>
      <p:sp>
        <p:nvSpPr>
          <p:cNvPr id="32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18DB4-267F-C32E-CE34-71C234A4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CAED80-7CCA-5057-38A4-724FC65572FF}"/>
              </a:ext>
            </a:extLst>
          </p:cNvPr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FC0428-145E-9484-F1F1-398274B975C6}"/>
              </a:ext>
            </a:extLst>
          </p:cNvPr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Mock-up Interfaces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9A434C-4A96-69C8-6BCA-4A3A10CFD04E}"/>
              </a:ext>
            </a:extLst>
          </p:cNvPr>
          <p:cNvSpPr/>
          <p:nvPr/>
        </p:nvSpPr>
        <p:spPr>
          <a:xfrm>
            <a:off x="521208" y="1664207"/>
            <a:ext cx="1565870" cy="3268739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5" name="Image 0" descr="pdfimg/screen-000.png">
            <a:extLst>
              <a:ext uri="{FF2B5EF4-FFF2-40B4-BE49-F238E27FC236}">
                <a16:creationId xmlns:a16="http://schemas.microsoft.com/office/drawing/2014/main" id="{D3968255-B1FC-E0A0-6980-EE87C7243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39"/>
            <a:ext cx="1538438" cy="3241307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D9E8CF3-1CCB-B6AB-5F79-83D29B7CD4F1}"/>
              </a:ext>
            </a:extLst>
          </p:cNvPr>
          <p:cNvSpPr/>
          <p:nvPr/>
        </p:nvSpPr>
        <p:spPr>
          <a:xfrm>
            <a:off x="584654" y="4950047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CC18CC0-A78F-B6E7-9518-0EFCDFFDF257}"/>
              </a:ext>
            </a:extLst>
          </p:cNvPr>
          <p:cNvSpPr/>
          <p:nvPr/>
        </p:nvSpPr>
        <p:spPr>
          <a:xfrm>
            <a:off x="2409444" y="1691640"/>
            <a:ext cx="1447078" cy="3247793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8" name="Image 1" descr="pdfimg/screen-001.png">
            <a:extLst>
              <a:ext uri="{FF2B5EF4-FFF2-40B4-BE49-F238E27FC236}">
                <a16:creationId xmlns:a16="http://schemas.microsoft.com/office/drawing/2014/main" id="{B044D47D-D05E-DC3F-0DC8-BE07869BA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204" y="1723575"/>
            <a:ext cx="1434201" cy="318036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4B09780-4730-3778-7128-5902FE422753}"/>
              </a:ext>
            </a:extLst>
          </p:cNvPr>
          <p:cNvSpPr/>
          <p:nvPr/>
        </p:nvSpPr>
        <p:spPr>
          <a:xfrm>
            <a:off x="2408204" y="4967944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1C18954-86ED-346D-2912-9778338A04BE}"/>
              </a:ext>
            </a:extLst>
          </p:cNvPr>
          <p:cNvSpPr/>
          <p:nvPr/>
        </p:nvSpPr>
        <p:spPr>
          <a:xfrm>
            <a:off x="6000710" y="3639610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11" name="Image 2" descr="pdfimg/screen-002.png">
            <a:extLst>
              <a:ext uri="{FF2B5EF4-FFF2-40B4-BE49-F238E27FC236}">
                <a16:creationId xmlns:a16="http://schemas.microsoft.com/office/drawing/2014/main" id="{3AF465B9-2FE4-E799-8294-70CC52FE3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116" y="3431454"/>
            <a:ext cx="1115568" cy="247378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61C73B82-F4F4-C2C8-E1E5-EC95FD9671EC}"/>
              </a:ext>
            </a:extLst>
          </p:cNvPr>
          <p:cNvSpPr/>
          <p:nvPr/>
        </p:nvSpPr>
        <p:spPr>
          <a:xfrm>
            <a:off x="2898648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Booking</a:t>
            </a:r>
            <a:endParaRPr lang="en-US" sz="8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8559EBB-B38B-63D5-99F2-2A8A08972833}"/>
              </a:ext>
            </a:extLst>
          </p:cNvPr>
          <p:cNvSpPr/>
          <p:nvPr/>
        </p:nvSpPr>
        <p:spPr>
          <a:xfrm>
            <a:off x="4251960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14" name="Image 3" descr="pdfimg/screen-003.png">
            <a:extLst>
              <a:ext uri="{FF2B5EF4-FFF2-40B4-BE49-F238E27FC236}">
                <a16:creationId xmlns:a16="http://schemas.microsoft.com/office/drawing/2014/main" id="{416A89F8-6E61-15C1-3964-1FDA60E5A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1691640"/>
            <a:ext cx="1115568" cy="247378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29551313-434F-8E25-99E6-E67A1DC5A70B}"/>
              </a:ext>
            </a:extLst>
          </p:cNvPr>
          <p:cNvSpPr/>
          <p:nvPr/>
        </p:nvSpPr>
        <p:spPr>
          <a:xfrm>
            <a:off x="4142232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Return</a:t>
            </a:r>
            <a:endParaRPr lang="en-US" sz="8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A61196F-22F8-C36B-DE7C-5BA6EB215A44}"/>
              </a:ext>
            </a:extLst>
          </p:cNvPr>
          <p:cNvSpPr/>
          <p:nvPr/>
        </p:nvSpPr>
        <p:spPr>
          <a:xfrm>
            <a:off x="5495544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17" name="Image 4" descr="pdfimg/screen-004.png">
            <a:extLst>
              <a:ext uri="{FF2B5EF4-FFF2-40B4-BE49-F238E27FC236}">
                <a16:creationId xmlns:a16="http://schemas.microsoft.com/office/drawing/2014/main" id="{F7152A81-BECF-5B09-2913-B4C13A36A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976" y="1691640"/>
            <a:ext cx="1115568" cy="2473788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8C037CD1-3CF5-9FA2-97BC-95DFBC6E8D6C}"/>
              </a:ext>
            </a:extLst>
          </p:cNvPr>
          <p:cNvSpPr/>
          <p:nvPr/>
        </p:nvSpPr>
        <p:spPr>
          <a:xfrm>
            <a:off x="5385816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</a:t>
            </a:r>
            <a:endParaRPr lang="en-US" sz="8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09F7B4A1-AD50-6282-A043-A696C5A66B26}"/>
              </a:ext>
            </a:extLst>
          </p:cNvPr>
          <p:cNvSpPr/>
          <p:nvPr/>
        </p:nvSpPr>
        <p:spPr>
          <a:xfrm>
            <a:off x="6739128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0" name="Image 5" descr="pdfimg/screen-005.png">
            <a:extLst>
              <a:ext uri="{FF2B5EF4-FFF2-40B4-BE49-F238E27FC236}">
                <a16:creationId xmlns:a16="http://schemas.microsoft.com/office/drawing/2014/main" id="{457F5944-CB56-F848-3919-8C1C59F343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1691640"/>
            <a:ext cx="1115568" cy="2473788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F89EE22C-62E5-061F-7B49-6669A513FFA8}"/>
              </a:ext>
            </a:extLst>
          </p:cNvPr>
          <p:cNvSpPr/>
          <p:nvPr/>
        </p:nvSpPr>
        <p:spPr>
          <a:xfrm>
            <a:off x="6629400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Equipment</a:t>
            </a:r>
            <a:endParaRPr lang="en-US" sz="85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829229E4-E7E1-E17B-5921-0572DAF1607A}"/>
              </a:ext>
            </a:extLst>
          </p:cNvPr>
          <p:cNvSpPr/>
          <p:nvPr/>
        </p:nvSpPr>
        <p:spPr>
          <a:xfrm>
            <a:off x="7982712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3" name="Image 6" descr="pdfimg/screen-006.png">
            <a:extLst>
              <a:ext uri="{FF2B5EF4-FFF2-40B4-BE49-F238E27FC236}">
                <a16:creationId xmlns:a16="http://schemas.microsoft.com/office/drawing/2014/main" id="{1D876F74-C21B-6F0C-5405-2F7D349C68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144" y="1691640"/>
            <a:ext cx="1115568" cy="2473788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D5E5EC4C-284E-0D43-6DC6-91ACA2364AD0}"/>
              </a:ext>
            </a:extLst>
          </p:cNvPr>
          <p:cNvSpPr/>
          <p:nvPr/>
        </p:nvSpPr>
        <p:spPr>
          <a:xfrm>
            <a:off x="7872984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Costs</a:t>
            </a:r>
            <a:endParaRPr lang="en-US" sz="85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CCB9090E-6276-BB83-31F1-DD213511C092}"/>
              </a:ext>
            </a:extLst>
          </p:cNvPr>
          <p:cNvSpPr/>
          <p:nvPr/>
        </p:nvSpPr>
        <p:spPr>
          <a:xfrm>
            <a:off x="9226296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6" name="Image 7" descr="pdfimg/screen-007.png">
            <a:extLst>
              <a:ext uri="{FF2B5EF4-FFF2-40B4-BE49-F238E27FC236}">
                <a16:creationId xmlns:a16="http://schemas.microsoft.com/office/drawing/2014/main" id="{6DD1BC06-ABD7-391C-D137-09B151F90E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3728" y="1691640"/>
            <a:ext cx="1115568" cy="2473788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DCC5194A-6CF1-16F8-7F5F-AF516DDD98C7}"/>
              </a:ext>
            </a:extLst>
          </p:cNvPr>
          <p:cNvSpPr/>
          <p:nvPr/>
        </p:nvSpPr>
        <p:spPr>
          <a:xfrm>
            <a:off x="9116568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</a:t>
            </a:r>
            <a:endParaRPr lang="en-US" sz="85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6E71746E-3AA8-EC2B-7217-16FC8E0B9E25}"/>
              </a:ext>
            </a:extLst>
          </p:cNvPr>
          <p:cNvSpPr/>
          <p:nvPr/>
        </p:nvSpPr>
        <p:spPr>
          <a:xfrm>
            <a:off x="10469880" y="1664208"/>
            <a:ext cx="1170432" cy="252865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</p:spPr>
      </p:sp>
      <p:pic>
        <p:nvPicPr>
          <p:cNvPr id="29" name="Image 8" descr="pdfimg/screen-008.png">
            <a:extLst>
              <a:ext uri="{FF2B5EF4-FFF2-40B4-BE49-F238E27FC236}">
                <a16:creationId xmlns:a16="http://schemas.microsoft.com/office/drawing/2014/main" id="{6E3A39A9-D5DE-30F3-3971-A68C199151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7312" y="1691640"/>
            <a:ext cx="1115568" cy="2473788"/>
          </a:xfrm>
          <a:prstGeom prst="rect">
            <a:avLst/>
          </a:prstGeom>
        </p:spPr>
      </p:pic>
      <p:sp>
        <p:nvSpPr>
          <p:cNvPr id="30" name="Text 19">
            <a:extLst>
              <a:ext uri="{FF2B5EF4-FFF2-40B4-BE49-F238E27FC236}">
                <a16:creationId xmlns:a16="http://schemas.microsoft.com/office/drawing/2014/main" id="{53DCFD39-5A2C-AFFA-51A0-BEAB5D29BE75}"/>
              </a:ext>
            </a:extLst>
          </p:cNvPr>
          <p:cNvSpPr/>
          <p:nvPr/>
        </p:nvSpPr>
        <p:spPr>
          <a:xfrm>
            <a:off x="10360152" y="425686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Labour</a:t>
            </a:r>
            <a:endParaRPr lang="en-US" sz="85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61716D54-14EA-162A-C310-1906B7CFC528}"/>
              </a:ext>
            </a:extLst>
          </p:cNvPr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8291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754880" cy="4754880"/>
          </a:xfrm>
          <a:prstGeom prst="ellipse">
            <a:avLst/>
          </a:prstGeom>
          <a:solidFill>
            <a:srgbClr val="27337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273374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817267"/>
            <a:ext cx="1463040" cy="1463040"/>
          </a:xfrm>
          <a:prstGeom prst="ellipse">
            <a:avLst/>
          </a:prstGeom>
          <a:solidFill>
            <a:srgbClr val="27337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08707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394960" y="3234587"/>
            <a:ext cx="1371600" cy="0"/>
          </a:xfrm>
          <a:prstGeom prst="line">
            <a:avLst/>
          </a:prstGeom>
          <a:noFill/>
          <a:ln w="25400">
            <a:solidFill>
              <a:srgbClr val="C9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17467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898</Words>
  <Application>Microsoft Office PowerPoint</Application>
  <PresentationFormat>Widescreen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Mavira Construction</cp:lastModifiedBy>
  <cp:revision>6</cp:revision>
  <dcterms:created xsi:type="dcterms:W3CDTF">2026-08-14T19:08:48Z</dcterms:created>
  <dcterms:modified xsi:type="dcterms:W3CDTF">2026-08-15T02:09:21Z</dcterms:modified>
</cp:coreProperties>
</file>